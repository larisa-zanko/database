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8" r:id="rId11"/>
    <p:sldId id="273" r:id="rId12"/>
    <p:sldId id="272" r:id="rId13"/>
    <p:sldId id="270" r:id="rId14"/>
    <p:sldId id="264" r:id="rId15"/>
    <p:sldId id="265" r:id="rId16"/>
    <p:sldId id="266" r:id="rId17"/>
    <p:sldId id="267" r:id="rId18"/>
    <p:sldId id="269" r:id="rId19"/>
  </p:sldIdLst>
  <p:sldSz cx="18288000" cy="10287000"/>
  <p:notesSz cx="6858000" cy="9144000"/>
  <p:embeddedFontLst>
    <p:embeddedFont>
      <p:font typeface="Almarai" panose="020B0604020202020204" charset="-78"/>
      <p:regular r:id="rId21"/>
    </p:embeddedFont>
    <p:embeddedFont>
      <p:font typeface="Almarai Bold" panose="020B0604020202020204" charset="-78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E9524-1F7E-4BF8-B94D-18F722A9D92E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E65C-7281-43A6-A5CD-D21945303F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95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3E65C-7281-43A6-A5CD-D21945303FB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14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9.png"/><Relationship Id="rId5" Type="http://schemas.openxmlformats.org/officeDocument/2006/relationships/image" Target="../media/image2.sv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5.sv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7.svg"/><Relationship Id="rId10" Type="http://schemas.openxmlformats.org/officeDocument/2006/relationships/image" Target="../media/image31.sv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65940" y="-491592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5323607" y="7197741"/>
            <a:ext cx="2564685" cy="3663835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-5976625" y="4306703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756401" y="1846908"/>
            <a:ext cx="5898410" cy="589841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437" r="-343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573748" y="1837383"/>
            <a:ext cx="7231514" cy="78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СУБД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3748" y="2768298"/>
            <a:ext cx="7231514" cy="512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1000" b="1">
                <a:solidFill>
                  <a:srgbClr val="4BD1FB"/>
                </a:solidFill>
                <a:latin typeface="Almarai Bold"/>
                <a:ea typeface="Almarai Bold"/>
                <a:cs typeface="Almarai Bold"/>
                <a:sym typeface="Almarai Bold"/>
              </a:rPr>
              <a:t>GOOGLE CLOUD SPANNER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586950" y="1880411"/>
            <a:ext cx="2809121" cy="438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что это такое?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2324144" y="324238"/>
            <a:ext cx="1334733" cy="1722709"/>
            <a:chOff x="0" y="0"/>
            <a:chExt cx="812800" cy="10490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967409" y="672919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39385" y="1880411"/>
            <a:ext cx="2809121" cy="438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история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6276579" y="324238"/>
            <a:ext cx="1334733" cy="1722709"/>
            <a:chOff x="0" y="0"/>
            <a:chExt cx="812800" cy="10490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919844" y="672919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1819" y="1880411"/>
            <a:ext cx="2809121" cy="88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Особенности Архитектуры 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10229013" y="324238"/>
            <a:ext cx="1334733" cy="1722709"/>
            <a:chOff x="0" y="0"/>
            <a:chExt cx="812800" cy="10490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872278" y="672919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44254" y="1880411"/>
            <a:ext cx="2809121" cy="133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Репликация</a:t>
            </a:r>
            <a:r>
              <a:rPr lang="en-US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и </a:t>
            </a:r>
            <a:r>
              <a:rPr lang="en-US" sz="2523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управление</a:t>
            </a:r>
            <a:r>
              <a:rPr lang="en-US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2523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транзакциями</a:t>
            </a:r>
            <a:endParaRPr lang="en-US" sz="2523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grpSp>
        <p:nvGrpSpPr>
          <p:cNvPr id="19" name="Group 19"/>
          <p:cNvGrpSpPr/>
          <p:nvPr/>
        </p:nvGrpSpPr>
        <p:grpSpPr>
          <a:xfrm rot="5400000">
            <a:off x="14181448" y="324238"/>
            <a:ext cx="1334733" cy="1722709"/>
            <a:chOff x="0" y="0"/>
            <a:chExt cx="812800" cy="10490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3824713" y="672919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86950" y="5245794"/>
            <a:ext cx="2809121" cy="438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TrueTime API</a:t>
            </a:r>
          </a:p>
        </p:txBody>
      </p:sp>
      <p:grpSp>
        <p:nvGrpSpPr>
          <p:cNvPr id="23" name="Group 23"/>
          <p:cNvGrpSpPr/>
          <p:nvPr/>
        </p:nvGrpSpPr>
        <p:grpSpPr>
          <a:xfrm rot="5400000">
            <a:off x="2324144" y="3689621"/>
            <a:ext cx="1334733" cy="1722709"/>
            <a:chOff x="0" y="0"/>
            <a:chExt cx="812800" cy="10490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967409" y="4038302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77499" y="5246917"/>
            <a:ext cx="4332893" cy="133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Протокол двухфазной фиксации и алгоритм Paxos в Spanner </a:t>
            </a:r>
          </a:p>
        </p:txBody>
      </p:sp>
      <p:grpSp>
        <p:nvGrpSpPr>
          <p:cNvPr id="27" name="Group 27"/>
          <p:cNvGrpSpPr/>
          <p:nvPr/>
        </p:nvGrpSpPr>
        <p:grpSpPr>
          <a:xfrm rot="5400000">
            <a:off x="6276579" y="3689621"/>
            <a:ext cx="1334733" cy="1722709"/>
            <a:chOff x="0" y="0"/>
            <a:chExt cx="812800" cy="104906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5919844" y="4038302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91819" y="5245794"/>
            <a:ext cx="2809121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ru-RU" sz="24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Атрибуты</a:t>
            </a:r>
            <a:endParaRPr lang="en-US" sz="24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ctr">
              <a:lnSpc>
                <a:spcPts val="3481"/>
              </a:lnSpc>
            </a:pPr>
            <a:endParaRPr lang="en-US" sz="2523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grpSp>
        <p:nvGrpSpPr>
          <p:cNvPr id="31" name="Group 31"/>
          <p:cNvGrpSpPr/>
          <p:nvPr/>
        </p:nvGrpSpPr>
        <p:grpSpPr>
          <a:xfrm rot="5400000">
            <a:off x="10229013" y="3689621"/>
            <a:ext cx="1334733" cy="1722709"/>
            <a:chOff x="0" y="0"/>
            <a:chExt cx="812800" cy="104906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9872278" y="4038302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913428" y="5245793"/>
            <a:ext cx="4358252" cy="1326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400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Сравнение</a:t>
            </a:r>
            <a:r>
              <a:rPr lang="en-US" sz="24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Google Cloud Spanner c </a:t>
            </a:r>
            <a:r>
              <a:rPr lang="en-US" sz="2400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её</a:t>
            </a:r>
            <a:r>
              <a:rPr lang="en-US" sz="24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предшественником</a:t>
            </a:r>
            <a:r>
              <a:rPr lang="en-US" sz="24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BigTable</a:t>
            </a:r>
            <a:r>
              <a:rPr lang="en-US" sz="24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</a:p>
        </p:txBody>
      </p:sp>
      <p:grpSp>
        <p:nvGrpSpPr>
          <p:cNvPr id="35" name="Group 35"/>
          <p:cNvGrpSpPr/>
          <p:nvPr/>
        </p:nvGrpSpPr>
        <p:grpSpPr>
          <a:xfrm rot="5400000">
            <a:off x="14181448" y="3689621"/>
            <a:ext cx="1334733" cy="1722709"/>
            <a:chOff x="0" y="0"/>
            <a:chExt cx="812800" cy="10490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3824713" y="4038302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5293" y="8612299"/>
            <a:ext cx="3952435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ru-RU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Преимущества </a:t>
            </a:r>
            <a:r>
              <a:rPr lang="en-US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Google Cloud Spanner</a:t>
            </a:r>
          </a:p>
        </p:txBody>
      </p:sp>
      <p:grpSp>
        <p:nvGrpSpPr>
          <p:cNvPr id="39" name="Group 39"/>
          <p:cNvGrpSpPr/>
          <p:nvPr/>
        </p:nvGrpSpPr>
        <p:grpSpPr>
          <a:xfrm rot="5400000">
            <a:off x="2324144" y="7055003"/>
            <a:ext cx="1334733" cy="1722709"/>
            <a:chOff x="0" y="0"/>
            <a:chExt cx="812800" cy="104906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1967409" y="7403684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09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39385" y="8611176"/>
            <a:ext cx="2809121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ru-RU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Недостатки  </a:t>
            </a:r>
            <a:r>
              <a:rPr lang="en-US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Google Cloud Spanner</a:t>
            </a:r>
          </a:p>
        </p:txBody>
      </p:sp>
      <p:grpSp>
        <p:nvGrpSpPr>
          <p:cNvPr id="43" name="Group 43"/>
          <p:cNvGrpSpPr/>
          <p:nvPr/>
        </p:nvGrpSpPr>
        <p:grpSpPr>
          <a:xfrm rot="5400000">
            <a:off x="6276579" y="7055003"/>
            <a:ext cx="1334733" cy="1722709"/>
            <a:chOff x="0" y="0"/>
            <a:chExt cx="812800" cy="104906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5919844" y="7403684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920163" y="8517049"/>
            <a:ext cx="3952435" cy="88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ru-RU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Основные области использования</a:t>
            </a:r>
            <a:endParaRPr lang="en-US" sz="2523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grpSp>
        <p:nvGrpSpPr>
          <p:cNvPr id="47" name="Group 47"/>
          <p:cNvGrpSpPr/>
          <p:nvPr/>
        </p:nvGrpSpPr>
        <p:grpSpPr>
          <a:xfrm rot="5400000">
            <a:off x="10229013" y="7055003"/>
            <a:ext cx="1334733" cy="1722709"/>
            <a:chOff x="0" y="0"/>
            <a:chExt cx="812800" cy="104906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49" name="TextBox 49"/>
          <p:cNvSpPr txBox="1"/>
          <p:nvPr/>
        </p:nvSpPr>
        <p:spPr>
          <a:xfrm>
            <a:off x="9872278" y="7403684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444254" y="8611176"/>
            <a:ext cx="2809121" cy="438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наша</a:t>
            </a:r>
            <a:r>
              <a:rPr lang="en-US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2523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команда</a:t>
            </a:r>
            <a:r>
              <a:rPr lang="en-US" sz="2523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</a:p>
        </p:txBody>
      </p:sp>
      <p:grpSp>
        <p:nvGrpSpPr>
          <p:cNvPr id="51" name="Group 51"/>
          <p:cNvGrpSpPr/>
          <p:nvPr/>
        </p:nvGrpSpPr>
        <p:grpSpPr>
          <a:xfrm rot="5400000">
            <a:off x="14181448" y="7055003"/>
            <a:ext cx="1334733" cy="1722709"/>
            <a:chOff x="0" y="0"/>
            <a:chExt cx="812800" cy="104906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1049062"/>
            </a:xfrm>
            <a:custGeom>
              <a:avLst/>
              <a:gdLst/>
              <a:ahLst/>
              <a:cxnLst/>
              <a:rect l="l" t="t" r="r" b="b"/>
              <a:pathLst>
                <a:path w="812800" h="1049062">
                  <a:moveTo>
                    <a:pt x="406400" y="0"/>
                  </a:moveTo>
                  <a:cubicBezTo>
                    <a:pt x="181951" y="0"/>
                    <a:pt x="0" y="234841"/>
                    <a:pt x="0" y="524531"/>
                  </a:cubicBezTo>
                  <a:cubicBezTo>
                    <a:pt x="0" y="814222"/>
                    <a:pt x="181951" y="1049062"/>
                    <a:pt x="406400" y="1049062"/>
                  </a:cubicBezTo>
                  <a:cubicBezTo>
                    <a:pt x="630849" y="1049062"/>
                    <a:pt x="812800" y="814222"/>
                    <a:pt x="812800" y="524531"/>
                  </a:cubicBezTo>
                  <a:cubicBezTo>
                    <a:pt x="812800" y="2348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77432" r="-177432"/>
              </a:stretch>
            </a:blipFill>
          </p:spPr>
        </p:sp>
      </p:grpSp>
      <p:sp>
        <p:nvSpPr>
          <p:cNvPr id="53" name="TextBox 53"/>
          <p:cNvSpPr txBox="1"/>
          <p:nvPr/>
        </p:nvSpPr>
        <p:spPr>
          <a:xfrm>
            <a:off x="13824713" y="7403684"/>
            <a:ext cx="2048203" cy="93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48836" y="4817381"/>
            <a:ext cx="6376662" cy="637666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1534" y="-28268"/>
            <a:ext cx="5968134" cy="10566237"/>
          </a:xfrm>
          <a:custGeom>
            <a:avLst/>
            <a:gdLst/>
            <a:ahLst/>
            <a:cxnLst/>
            <a:rect l="l" t="t" r="r" b="b"/>
            <a:pathLst>
              <a:path w="7217244" h="10566237">
                <a:moveTo>
                  <a:pt x="0" y="0"/>
                </a:moveTo>
                <a:lnTo>
                  <a:pt x="7217244" y="0"/>
                </a:lnTo>
                <a:lnTo>
                  <a:pt x="7217244" y="10566237"/>
                </a:lnTo>
                <a:lnTo>
                  <a:pt x="0" y="10566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255" r="-8213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591363" y="2531995"/>
            <a:ext cx="11875667" cy="1179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3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СУБД G</a:t>
            </a:r>
            <a:r>
              <a:rPr lang="en-US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oogle Cloud Spanner</a:t>
            </a:r>
            <a:r>
              <a:rPr lang="ru-RU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- </a:t>
            </a:r>
            <a:r>
              <a:rPr lang="en-US" sz="35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облач</a:t>
            </a:r>
            <a:r>
              <a:rPr lang="ru-RU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ная</a:t>
            </a:r>
            <a:r>
              <a:rPr lang="en-US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35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баз</a:t>
            </a:r>
            <a:r>
              <a:rPr lang="ru-RU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а</a:t>
            </a:r>
            <a:r>
              <a:rPr lang="en-US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35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данных</a:t>
            </a:r>
            <a:r>
              <a:rPr lang="en-US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, </a:t>
            </a:r>
            <a:r>
              <a:rPr lang="en-US" sz="35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разработанн</a:t>
            </a:r>
            <a:r>
              <a:rPr lang="ru-RU" sz="35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ая</a:t>
            </a:r>
            <a:r>
              <a:rPr lang="en-US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35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компанией</a:t>
            </a:r>
            <a:r>
              <a:rPr lang="en-US" sz="35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Google.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91363" y="4753859"/>
            <a:ext cx="10856578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9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G</a:t>
            </a:r>
            <a:r>
              <a:rPr lang="en-US" sz="29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oogle Cloud Spanner </a:t>
            </a:r>
            <a:r>
              <a:rPr lang="ru-RU" sz="29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- полностью управляемая, горизонтально масштабируемая, глобально согласованная и</a:t>
            </a:r>
          </a:p>
          <a:p>
            <a:pPr algn="l">
              <a:lnSpc>
                <a:spcPts val="3449"/>
              </a:lnSpc>
            </a:pPr>
            <a:r>
              <a:rPr lang="ru-RU" sz="29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географически распределенный система управления  баз данных с поддержкой распределенных транзакций. </a:t>
            </a:r>
            <a:endParaRPr lang="en-US" sz="2900" u="none" strike="noStrike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8845896" y="492698"/>
            <a:ext cx="1224824" cy="122482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443524" y="721274"/>
            <a:ext cx="5763947" cy="78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ЧТО ЭТО ТАКОЕ?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0185" y="635549"/>
            <a:ext cx="1456246" cy="85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A40C70B9-C8DE-4433-93C3-25864FCAAE02}"/>
              </a:ext>
            </a:extLst>
          </p:cNvPr>
          <p:cNvSpPr txBox="1"/>
          <p:nvPr/>
        </p:nvSpPr>
        <p:spPr>
          <a:xfrm>
            <a:off x="6591362" y="7464683"/>
            <a:ext cx="11875667" cy="1179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30"/>
              </a:lnSpc>
              <a:spcBef>
                <a:spcPct val="0"/>
              </a:spcBef>
            </a:pPr>
            <a:r>
              <a:rPr lang="ru-RU" sz="3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Google </a:t>
            </a:r>
            <a:r>
              <a:rPr lang="ru-RU" sz="35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Cloud</a:t>
            </a:r>
            <a:r>
              <a:rPr lang="ru-RU" sz="3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ru-RU" sz="35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Spanner</a:t>
            </a:r>
            <a:r>
              <a:rPr lang="ru-RU" sz="3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 -  </a:t>
            </a:r>
            <a:r>
              <a:rPr lang="ru-RU" sz="35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полуреляционная</a:t>
            </a:r>
            <a:r>
              <a:rPr lang="ru-RU" sz="3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система управления данными.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6575" y="-1489570"/>
            <a:ext cx="4202211" cy="6003158"/>
            <a:chOff x="0" y="0"/>
            <a:chExt cx="4445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2039452" y="315987"/>
            <a:ext cx="1224824" cy="122482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3949046" y="458003"/>
            <a:ext cx="5763947" cy="78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ИСТОРИЯ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7214" y="315987"/>
            <a:ext cx="1456246" cy="84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355167" y="2852857"/>
            <a:ext cx="713419" cy="554778"/>
            <a:chOff x="0" y="0"/>
            <a:chExt cx="812800" cy="6320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268366" y="5519932"/>
            <a:ext cx="713419" cy="554778"/>
            <a:chOff x="0" y="0"/>
            <a:chExt cx="812800" cy="6320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 dirty="0"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293552" y="8351445"/>
            <a:ext cx="713419" cy="554778"/>
            <a:chOff x="0" y="0"/>
            <a:chExt cx="812800" cy="6320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81898" y="4275614"/>
            <a:ext cx="3428906" cy="75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15"/>
              </a:lnSpc>
              <a:spcBef>
                <a:spcPct val="0"/>
              </a:spcBef>
            </a:pPr>
            <a:r>
              <a:rPr lang="en-US" sz="4358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2012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1899" y="1463965"/>
            <a:ext cx="4649031" cy="744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15"/>
              </a:lnSpc>
              <a:spcBef>
                <a:spcPct val="0"/>
              </a:spcBef>
            </a:pPr>
            <a:r>
              <a:rPr lang="ru-RU" sz="4358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Начало </a:t>
            </a:r>
            <a:r>
              <a:rPr lang="en-US" sz="4358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2010</a:t>
            </a:r>
            <a:r>
              <a:rPr lang="ru-RU" sz="4358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-х</a:t>
            </a:r>
            <a:endParaRPr lang="en-US" sz="4358" b="1" dirty="0">
              <a:solidFill>
                <a:srgbClr val="17E3B2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91012" y="7518172"/>
            <a:ext cx="3428906" cy="75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15"/>
              </a:lnSpc>
              <a:spcBef>
                <a:spcPct val="0"/>
              </a:spcBef>
            </a:pPr>
            <a:r>
              <a:rPr lang="en-US" sz="4358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2017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A96750-C12B-45E7-A5A1-80608866B569}"/>
              </a:ext>
            </a:extLst>
          </p:cNvPr>
          <p:cNvSpPr txBox="1"/>
          <p:nvPr/>
        </p:nvSpPr>
        <p:spPr>
          <a:xfrm>
            <a:off x="2942563" y="3695700"/>
            <a:ext cx="7870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CE117A7A-D732-4525-B35F-2A2F00714249}"/>
              </a:ext>
            </a:extLst>
          </p:cNvPr>
          <p:cNvSpPr txBox="1"/>
          <p:nvPr/>
        </p:nvSpPr>
        <p:spPr>
          <a:xfrm>
            <a:off x="1281898" y="2395019"/>
            <a:ext cx="13199878" cy="2061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27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при разработке социальной сети Google+</a:t>
            </a:r>
            <a:r>
              <a:rPr lang="en-US" sz="27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ru-RU" sz="27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инженеры Google столкнулись с проблемой</a:t>
            </a:r>
            <a:r>
              <a:rPr lang="en-US" sz="27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ru-RU" sz="27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неспособности  </a:t>
            </a:r>
            <a:r>
              <a:rPr lang="ru-RU" sz="27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Bigtable</a:t>
            </a:r>
            <a:r>
              <a:rPr lang="ru-RU" sz="27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обеспечить непротиворечивость данных, которые хранились в тысячах копий на сотнях тысяч серверов. </a:t>
            </a:r>
            <a:r>
              <a:rPr lang="ru-RU" sz="27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Bigtable</a:t>
            </a:r>
            <a:r>
              <a:rPr lang="ru-RU" sz="27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не имел механизмов, которые обеспечивали бы строгую упорядоченность операций</a:t>
            </a:r>
            <a:r>
              <a:rPr lang="en-US" sz="27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 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 lang="en-US" sz="2499" u="none" strike="noStrike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6FD4B6-E293-41B4-9035-AE85C2BFC60C}"/>
              </a:ext>
            </a:extLst>
          </p:cNvPr>
          <p:cNvSpPr txBox="1"/>
          <p:nvPr/>
        </p:nvSpPr>
        <p:spPr>
          <a:xfrm>
            <a:off x="1048925" y="5070383"/>
            <a:ext cx="13199878" cy="279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Анонсирована  разработка нового распределенного хранилища данных  </a:t>
            </a:r>
            <a:r>
              <a:rPr lang="ru-RU" sz="25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Spanner</a:t>
            </a:r>
            <a: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  <a:endParaRPr lang="en-US" sz="2500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algn="just"/>
            <a:b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</a:br>
            <a:r>
              <a:rPr lang="ru-RU" sz="25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Внедрины</a:t>
            </a:r>
            <a: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концепции, характерные для реляционных баз данных, такие как ACID, </a:t>
            </a:r>
            <a:b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</a:br>
            <a: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которые обеспечивают надежность и согласованность транзакций.</a:t>
            </a:r>
            <a:b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</a:br>
            <a:r>
              <a:rPr lang="ru-RU" sz="25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Spanner</a:t>
            </a:r>
            <a: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сочетает  характеристики реляционных  и </a:t>
            </a:r>
            <a:r>
              <a:rPr lang="ru-RU" sz="25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NoSQL</a:t>
            </a:r>
            <a: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систем, </a:t>
            </a:r>
            <a:b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</a:br>
            <a:r>
              <a:rPr lang="ru-RU" sz="25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предоставляя возможность масштабирования без потери целостности данных.</a:t>
            </a:r>
          </a:p>
          <a:p>
            <a:pPr algn="l">
              <a:lnSpc>
                <a:spcPts val="3449"/>
              </a:lnSpc>
            </a:pPr>
            <a:endParaRPr lang="ru-RU" sz="2300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011215-5607-4C27-8B59-E006C0C8B45F}"/>
              </a:ext>
            </a:extLst>
          </p:cNvPr>
          <p:cNvSpPr txBox="1"/>
          <p:nvPr/>
        </p:nvSpPr>
        <p:spPr>
          <a:xfrm>
            <a:off x="1048925" y="8383595"/>
            <a:ext cx="15013943" cy="84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Spanner</a:t>
            </a:r>
            <a:r>
              <a:rPr lang="ru-RU" sz="2400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стал доступен для общего пользования</a:t>
            </a:r>
          </a:p>
          <a:p>
            <a:pPr algn="l">
              <a:lnSpc>
                <a:spcPts val="3449"/>
              </a:lnSpc>
            </a:pPr>
            <a:endParaRPr lang="ru-RU" sz="1800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954564" y="469756"/>
            <a:ext cx="10380436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ОСОБЕННОСТИ АРХИТЕКТУРЫ 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2192097" y="524017"/>
            <a:ext cx="1224824" cy="122482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2444788" y="3914954"/>
            <a:ext cx="11031063" cy="6029145"/>
          </a:xfrm>
          <a:custGeom>
            <a:avLst/>
            <a:gdLst/>
            <a:ahLst/>
            <a:cxnLst/>
            <a:rect l="l" t="t" r="r" b="b"/>
            <a:pathLst>
              <a:path w="9090872" h="5065570">
                <a:moveTo>
                  <a:pt x="0" y="0"/>
                </a:moveTo>
                <a:lnTo>
                  <a:pt x="9090871" y="0"/>
                </a:lnTo>
                <a:lnTo>
                  <a:pt x="9090871" y="5065570"/>
                </a:lnTo>
                <a:lnTo>
                  <a:pt x="0" y="50655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3694" b="-7649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24" name="TextBox 24"/>
          <p:cNvSpPr txBox="1"/>
          <p:nvPr/>
        </p:nvSpPr>
        <p:spPr>
          <a:xfrm>
            <a:off x="489273" y="2760428"/>
            <a:ext cx="7283127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UNIVERSMASTER</a:t>
            </a:r>
            <a:r>
              <a:rPr lang="ru-RU" sz="28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- </a:t>
            </a:r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lmarai Bold" panose="020B0604020202020204" charset="-78"/>
              </a:rPr>
              <a:t>процесс, который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lmarai Bold" panose="020B0604020202020204" charset="-78"/>
              </a:rPr>
              <a:t> </a:t>
            </a:r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lmarai Bold" panose="020B0604020202020204" charset="-78"/>
              </a:rPr>
              <a:t>координирует работу множества зон (</a:t>
            </a:r>
            <a:r>
              <a:rPr lang="ru-RU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lmarai Bold" panose="020B0604020202020204" charset="-78"/>
              </a:rPr>
              <a:t>Zones</a:t>
            </a:r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lmarai Bold" panose="020B0604020202020204" charset="-78"/>
              </a:rPr>
              <a:t>).</a:t>
            </a:r>
            <a:endParaRPr lang="en-US" sz="2800" b="1" dirty="0">
              <a:solidFill>
                <a:schemeClr val="bg1"/>
              </a:solidFill>
              <a:latin typeface="Almarai Bold" panose="020B0604020202020204" charset="-78"/>
              <a:ea typeface="Almarai Bold"/>
              <a:cs typeface="Almarai Bold" panose="020B0604020202020204" charset="-78"/>
              <a:sym typeface="Almarai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084995" y="653181"/>
            <a:ext cx="1456246" cy="85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99271" y="1618244"/>
            <a:ext cx="3535666" cy="884858"/>
          </a:xfrm>
          <a:prstGeom prst="rect">
            <a:avLst/>
          </a:prstGeom>
          <a:noFill/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00"/>
              </a:lnSpc>
              <a:spcBef>
                <a:spcPct val="0"/>
              </a:spcBef>
            </a:pPr>
            <a:r>
              <a:rPr lang="ru-RU" sz="5000" b="1" dirty="0">
                <a:solidFill>
                  <a:srgbClr val="4BD1FB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5000" b="1" dirty="0">
                <a:solidFill>
                  <a:srgbClr val="4BD1FB"/>
                </a:solidFill>
                <a:latin typeface="Almarai Bold"/>
                <a:ea typeface="Almarai Bold"/>
                <a:cs typeface="Almarai Bold"/>
                <a:sym typeface="Almarai Bold"/>
              </a:rPr>
              <a:t>UNIVERSE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58340" y="2758751"/>
            <a:ext cx="8437265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МНОЖЕСТВО ZONE</a:t>
            </a:r>
            <a:r>
              <a:rPr lang="ru-RU" sz="28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ru-RU" sz="2800" b="1" dirty="0">
                <a:solidFill>
                  <a:schemeClr val="bg1"/>
                </a:solidFill>
                <a:latin typeface="Almarai Bold"/>
                <a:ea typeface="Almarai Bold"/>
                <a:cs typeface="Almarai Bold" panose="020B0604020202020204" charset="-78"/>
                <a:sym typeface="Almarai Bold"/>
              </a:rPr>
              <a:t>- </a:t>
            </a:r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lmarai Bold" panose="020B0604020202020204" charset="-78"/>
              </a:rPr>
              <a:t>единицы как логической изоляции, так и физического размещения</a:t>
            </a:r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800" b="1" dirty="0">
              <a:solidFill>
                <a:schemeClr val="bg1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31D599-5C03-44C3-A6D6-6EEC7D9FECCD}"/>
              </a:ext>
            </a:extLst>
          </p:cNvPr>
          <p:cNvSpPr txBox="1"/>
          <p:nvPr/>
        </p:nvSpPr>
        <p:spPr>
          <a:xfrm>
            <a:off x="6334937" y="1703873"/>
            <a:ext cx="17299858" cy="61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4540"/>
              </a:lnSpc>
              <a:spcBef>
                <a:spcPct val="0"/>
              </a:spcBef>
            </a:pPr>
            <a:r>
              <a:rPr lang="ru-RU" sz="24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экземпляр </a:t>
            </a:r>
            <a:r>
              <a:rPr lang="en-US" sz="24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GOOGLE CLOUD SPANNER </a:t>
            </a:r>
            <a: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b="1" dirty="0">
              <a:solidFill>
                <a:schemeClr val="bg1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5173056" y="-2043171"/>
            <a:ext cx="5925223" cy="8220114"/>
            <a:chOff x="0" y="0"/>
            <a:chExt cx="4445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921801" y="1854465"/>
            <a:ext cx="6134277" cy="61342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5976" r="-597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234089" y="586709"/>
            <a:ext cx="851452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РЕПЛИКАЦИЯ И УПРАВЛЕНИЕ ТРАНЗАКЦИЯМИ В SPANNER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999768" y="4457700"/>
            <a:ext cx="6400623" cy="508785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5400000">
            <a:off x="1023796" y="510055"/>
            <a:ext cx="1224824" cy="122482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1359" y="2705100"/>
            <a:ext cx="12737967" cy="7130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40" lvl="1" indent="-388620" algn="l">
              <a:lnSpc>
                <a:spcPts val="4600"/>
              </a:lnSpc>
              <a:buFont typeface="Arial"/>
              <a:buChar char="•"/>
            </a:pPr>
            <a:r>
              <a:rPr lang="ru-RU" sz="3500" dirty="0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реплики (копии)  данных  хранятся в географически распределенных центрах.</a:t>
            </a:r>
            <a:br>
              <a:rPr lang="ru-RU" sz="3500" dirty="0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</a:br>
            <a:r>
              <a:rPr lang="ru-RU" sz="3500" dirty="0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Каждая БД имеет минимум 3 реплики, чтобы быть доступной при сбоях.</a:t>
            </a:r>
          </a:p>
          <a:p>
            <a:pPr marL="388620" lvl="1" algn="l">
              <a:lnSpc>
                <a:spcPts val="4600"/>
              </a:lnSpc>
            </a:pPr>
            <a:endParaRPr lang="ru-RU" sz="3500" dirty="0">
              <a:solidFill>
                <a:srgbClr val="D3E4EA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777240" lvl="1" indent="-388620" algn="l">
              <a:lnSpc>
                <a:spcPts val="4600"/>
              </a:lnSpc>
              <a:buFont typeface="Arial"/>
              <a:buChar char="•"/>
            </a:pPr>
            <a:r>
              <a:rPr lang="ru-RU" sz="3500" dirty="0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поддерживает распределённые транзакции, предотвращает  в репликах  таблиц расхождения, влияющих на  непротиворечивость данных.</a:t>
            </a:r>
          </a:p>
          <a:p>
            <a:pPr marL="777240" lvl="1" indent="-388620" algn="l">
              <a:lnSpc>
                <a:spcPts val="4600"/>
              </a:lnSpc>
              <a:buFont typeface="Arial"/>
              <a:buChar char="•"/>
            </a:pPr>
            <a:endParaRPr lang="ru-RU" sz="3500" dirty="0">
              <a:solidFill>
                <a:srgbClr val="D3E4EA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777240" lvl="1" indent="-388620" algn="l">
              <a:lnSpc>
                <a:spcPts val="4600"/>
              </a:lnSpc>
              <a:buFont typeface="Arial"/>
              <a:buChar char="•"/>
            </a:pPr>
            <a:r>
              <a:rPr lang="ru-RU" sz="3500" dirty="0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Данные в </a:t>
            </a:r>
            <a:r>
              <a:rPr lang="ru-RU" sz="3500" dirty="0" err="1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Spanner</a:t>
            </a:r>
            <a:r>
              <a:rPr lang="ru-RU" sz="3500" dirty="0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 поддерживают </a:t>
            </a:r>
            <a:r>
              <a:rPr lang="ru-RU" sz="3500" dirty="0" err="1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мультиверсии</a:t>
            </a:r>
            <a:r>
              <a:rPr lang="ru-RU" sz="3500" dirty="0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 благодаря временным меткам (</a:t>
            </a:r>
            <a:r>
              <a:rPr lang="ru-RU" sz="3500" dirty="0" err="1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timestamps</a:t>
            </a:r>
            <a:r>
              <a:rPr lang="ru-RU" sz="3500" dirty="0">
                <a:solidFill>
                  <a:srgbClr val="D3E4EA"/>
                </a:solidFill>
                <a:latin typeface="Almarai Bold"/>
                <a:ea typeface="Almarai Bold"/>
                <a:cs typeface="Almarai Bold"/>
                <a:sym typeface="Almarai Bold"/>
              </a:rPr>
              <a:t>). </a:t>
            </a:r>
          </a:p>
          <a:p>
            <a:pPr marL="0" lvl="0" indent="0" algn="l">
              <a:lnSpc>
                <a:spcPts val="4967"/>
              </a:lnSpc>
              <a:spcBef>
                <a:spcPct val="0"/>
              </a:spcBef>
            </a:pPr>
            <a:endParaRPr lang="en-US" sz="3600" b="1" dirty="0">
              <a:solidFill>
                <a:srgbClr val="D3E4EA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08085" y="695559"/>
            <a:ext cx="1456246" cy="85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28817" y="133182"/>
            <a:ext cx="12010783" cy="10400796"/>
            <a:chOff x="0" y="0"/>
            <a:chExt cx="4282440" cy="370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r="-10259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759084" y="1829857"/>
            <a:ext cx="8092162" cy="7007447"/>
            <a:chOff x="0" y="0"/>
            <a:chExt cx="4282440" cy="370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9361" r="-936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7068800" y="1979217"/>
            <a:ext cx="5754080" cy="8220114"/>
            <a:chOff x="0" y="0"/>
            <a:chExt cx="4445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664277" y="-871079"/>
            <a:ext cx="1683983" cy="2405689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16417309" y="1645890"/>
            <a:ext cx="841991" cy="84199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6480591" y="8837304"/>
            <a:ext cx="841991" cy="8419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4463544" y="7799071"/>
            <a:ext cx="2374761" cy="3392515"/>
            <a:chOff x="0" y="0"/>
            <a:chExt cx="4445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5400000">
            <a:off x="6480591" y="676735"/>
            <a:ext cx="1224824" cy="12248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8039953" y="670453"/>
            <a:ext cx="955636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TRUETIME API: ГЛОБАЛЬНОЕ ВРЕМЯ И СОГЛАСОВАННОСТЬ ДАННЫХ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4880" y="826552"/>
            <a:ext cx="1456246" cy="85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913FD8-5DA0-4171-B7A4-42AB5AF0E9BA}"/>
              </a:ext>
            </a:extLst>
          </p:cNvPr>
          <p:cNvSpPr txBox="1"/>
          <p:nvPr/>
        </p:nvSpPr>
        <p:spPr>
          <a:xfrm>
            <a:off x="6823136" y="1794812"/>
            <a:ext cx="10651867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Специальный  программный интерфейс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TrueTime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AP обеспечивает согласованность и точность данных,</a:t>
            </a:r>
            <a:b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</a:b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позволяет системе отслеживать время с высокой точностью.</a:t>
            </a: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В основе лежит концепция единого времени, называется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global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wall-clock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:</a:t>
            </a: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Чтобы библиотека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TrueTime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могла вернуть каждому 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Span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-серверу точное глобальное время,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Spanner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имеет специальные узлы  «мастера времени», связанные с системой GPS . </a:t>
            </a: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Span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-сервера постоянно синхронизируют время, общаясь друг с другом с помощью специального сервиса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timeslave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. </a:t>
            </a:r>
          </a:p>
          <a:p>
            <a:pPr lvl="0" algn="l">
              <a:spcBef>
                <a:spcPct val="0"/>
              </a:spcBef>
            </a:pPr>
            <a:endParaRPr lang="ru-RU" sz="26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функция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TT.now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() библиотеки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TrueTime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возвращает значение времени в виде интервала (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TT.now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().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latest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— 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TT.now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().</a:t>
            </a:r>
            <a:r>
              <a:rPr lang="ru-RU" sz="26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earliest</a:t>
            </a:r>
            <a:r>
              <a:rPr lang="ru-RU" sz="26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), учитывающего погрешность. </a:t>
            </a:r>
          </a:p>
          <a:p>
            <a:pPr marL="457200" lvl="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ru-RU" sz="30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0" lvl="0" indent="0" algn="l">
              <a:spcBef>
                <a:spcPct val="0"/>
              </a:spcBef>
            </a:pPr>
            <a:endParaRPr lang="ru-RU" sz="30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2107739" y="1633160"/>
            <a:ext cx="1943100" cy="161652"/>
            <a:chOff x="0" y="0"/>
            <a:chExt cx="511763" cy="42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1763" cy="42575"/>
            </a:xfrm>
            <a:custGeom>
              <a:avLst/>
              <a:gdLst/>
              <a:ahLst/>
              <a:cxnLst/>
              <a:rect l="l" t="t" r="r" b="b"/>
              <a:pathLst>
                <a:path w="511763" h="42575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507638" y="956744"/>
            <a:ext cx="1224824" cy="122482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120050" y="2788558"/>
            <a:ext cx="12129423" cy="72045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727065" lvl="1" indent="-457200" algn="just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Для реализации протокола двухфазной фиксации  (2-Phase </a:t>
            </a:r>
            <a:r>
              <a:rPr lang="ru-RU" sz="2600" dirty="0" err="1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Commit</a:t>
            </a:r>
            <a:r>
              <a:rPr lang="ru-RU" sz="2600" dirty="0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 Protocol) в </a:t>
            </a:r>
            <a:r>
              <a:rPr lang="ru-RU" sz="2600" dirty="0" err="1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Spanne</a:t>
            </a:r>
            <a:r>
              <a:rPr lang="ru-RU" sz="2600" dirty="0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 применяется</a:t>
            </a:r>
            <a:r>
              <a:rPr lang="en-US" sz="2600" dirty="0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 </a:t>
            </a:r>
            <a:r>
              <a:rPr lang="ru-RU" sz="2600" dirty="0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 алгоритм разрешения коллизий </a:t>
            </a:r>
            <a:r>
              <a:rPr lang="ru-RU" sz="2600" dirty="0" err="1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Paxos</a:t>
            </a:r>
            <a:r>
              <a:rPr lang="ru-RU" sz="2600" dirty="0">
                <a:solidFill>
                  <a:srgbClr val="FFFFFF"/>
                </a:solidFill>
                <a:latin typeface="Almarai"/>
                <a:ea typeface="Almarai"/>
                <a:cs typeface="Almarai Bold" panose="020B0604020202020204" charset="-78"/>
                <a:sym typeface="Almarai"/>
              </a:rPr>
              <a:t>.</a:t>
            </a:r>
          </a:p>
          <a:p>
            <a:pPr marL="269865" lvl="1" algn="just"/>
            <a:endParaRPr lang="ru-RU" sz="2600" dirty="0">
              <a:solidFill>
                <a:srgbClr val="FFFFFF"/>
              </a:solidFill>
              <a:latin typeface="Almarai"/>
              <a:ea typeface="Almarai"/>
              <a:cs typeface="Almarai Bold" panose="020B0604020202020204" charset="-78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r>
              <a:rPr lang="en-US" sz="2600" u="none" strike="noStrike" dirty="0" err="1">
                <a:solidFill>
                  <a:srgbClr val="FFFFFF"/>
                </a:solidFill>
                <a:latin typeface="Almarai Bold" panose="020B0604020202020204" charset="-78"/>
                <a:ea typeface="Almarai"/>
                <a:cs typeface="Almarai Bold" panose="020B0604020202020204" charset="-78"/>
                <a:sym typeface="Almarai"/>
              </a:rPr>
              <a:t>Paxos</a:t>
            </a:r>
            <a:r>
              <a:rPr lang="en-US" sz="2600" u="none" strike="noStrike" dirty="0">
                <a:solidFill>
                  <a:srgbClr val="FFFFFF"/>
                </a:solidFill>
                <a:latin typeface="Almarai Bold" panose="020B0604020202020204" charset="-78"/>
                <a:ea typeface="Almarai"/>
                <a:cs typeface="Almarai Bold" panose="020B0604020202020204" charset="-78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гарантирует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,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что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данные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одинаковы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во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всех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репликах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  <a:endParaRPr lang="ru-RU" sz="2600" u="none" strike="noStrike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Узел-координатор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инициирует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транзакцию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(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например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,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удаление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пользователя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) и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уведомляет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все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узлы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с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копиями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данных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  <a:endParaRPr lang="ru-RU" sz="2600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endParaRPr lang="ru-RU" sz="2600" u="none" strike="noStrike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Каждый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узел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получает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интервал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глобального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времени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для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временной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метки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,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который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может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различаться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из-за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географического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распределения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  <a:endParaRPr lang="ru-RU" sz="2600" u="none" strike="noStrike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Узлы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обещают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завершить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транзакцию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в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заданный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временной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интервал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  <a:r>
              <a:rPr lang="ru-RU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Узлы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выполняют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изменения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независимо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,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но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могут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фиксировать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их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только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по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команде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координатора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  <a:endParaRPr lang="ru-RU" sz="2600" u="none" strike="noStrike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endParaRPr lang="ru-RU" sz="2600" dirty="0">
              <a:solidFill>
                <a:srgbClr val="FFFFFF"/>
              </a:solidFill>
              <a:latin typeface="Almarai Bold"/>
              <a:ea typeface="Almarai Bold"/>
              <a:cs typeface="Almarai"/>
              <a:sym typeface="Almarai"/>
            </a:endParaRPr>
          </a:p>
          <a:p>
            <a:pPr marL="727065" lvl="1" indent="-457200" algn="just">
              <a:buFont typeface="Arial" panose="020B0604020202020204" pitchFamily="34" charset="0"/>
              <a:buChar char="•"/>
            </a:pPr>
            <a:r>
              <a:rPr lang="en-US" sz="2600" u="none" strike="noStrike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Если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хотя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бы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один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узел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не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подтверждает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готовность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к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фиксации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,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координатор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откатывает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транзакцию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и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повторяет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  <a:r>
              <a:rPr lang="en-US" sz="2600" u="none" strike="noStrike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попытку</a:t>
            </a:r>
            <a:r>
              <a:rPr lang="en-US" sz="2600" u="none" strike="noStrike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</a:p>
          <a:p>
            <a:pPr algn="l">
              <a:lnSpc>
                <a:spcPts val="3449"/>
              </a:lnSpc>
            </a:pPr>
            <a:endParaRPr lang="en-US" sz="2600" u="none" strike="noStrike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141938" y="-5756657"/>
            <a:ext cx="5754080" cy="8220114"/>
            <a:chOff x="0" y="0"/>
            <a:chExt cx="4445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141938" y="5468707"/>
            <a:ext cx="5754080" cy="8220114"/>
            <a:chOff x="0" y="0"/>
            <a:chExt cx="4445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1942489" y="580943"/>
            <a:ext cx="6836457" cy="2452579"/>
          </a:xfrm>
          <a:custGeom>
            <a:avLst/>
            <a:gdLst/>
            <a:ahLst/>
            <a:cxnLst/>
            <a:rect l="l" t="t" r="r" b="b"/>
            <a:pathLst>
              <a:path w="6836457" h="2452579">
                <a:moveTo>
                  <a:pt x="0" y="0"/>
                </a:moveTo>
                <a:lnTo>
                  <a:pt x="6836457" y="0"/>
                </a:lnTo>
                <a:lnTo>
                  <a:pt x="6836457" y="2452579"/>
                </a:lnTo>
                <a:lnTo>
                  <a:pt x="0" y="2452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7" name="TextBox 17"/>
          <p:cNvSpPr txBox="1"/>
          <p:nvPr/>
        </p:nvSpPr>
        <p:spPr>
          <a:xfrm>
            <a:off x="3431733" y="850621"/>
            <a:ext cx="6811623" cy="183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4BD1FB"/>
                </a:solidFill>
                <a:latin typeface="Almarai Bold"/>
                <a:ea typeface="Almarai Bold"/>
                <a:cs typeface="Almarai Bold"/>
                <a:sym typeface="Almarai Bold"/>
              </a:rPr>
              <a:t>ПРОТОКОЛ ДВУХФАЗНОЙ ФИКСАЦИИ И АЛГОРИТМ PAXOS В SPANNER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1927" y="1142248"/>
            <a:ext cx="1456246" cy="85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5400000">
            <a:off x="1403518" y="65140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480089" y="770721"/>
            <a:ext cx="1112605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ru-RU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Атрибуты </a:t>
            </a:r>
            <a:r>
              <a:rPr lang="en-US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Google Cloud Spanner 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7807" y="770721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7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D7CFC8BC-55DD-4848-BC71-0ED0965999A1}"/>
              </a:ext>
            </a:extLst>
          </p:cNvPr>
          <p:cNvSpPr txBox="1"/>
          <p:nvPr/>
        </p:nvSpPr>
        <p:spPr>
          <a:xfrm>
            <a:off x="-317985" y="2255167"/>
            <a:ext cx="773158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	</a:t>
            </a:r>
            <a:r>
              <a:rPr lang="ru-RU" sz="3500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Кросстабличные</a:t>
            </a:r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транзакции  </a:t>
            </a:r>
            <a:endParaRPr lang="en-US" sz="3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3F4D0BE6-D932-41A9-AE44-DB92B14C078C}"/>
              </a:ext>
            </a:extLst>
          </p:cNvPr>
          <p:cNvSpPr txBox="1"/>
          <p:nvPr/>
        </p:nvSpPr>
        <p:spPr>
          <a:xfrm>
            <a:off x="796105" y="3226652"/>
            <a:ext cx="682449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транзакции могут охватывать несколько таблиц — не обязательно ограничиваться одной таблицей</a:t>
            </a:r>
            <a:endParaRPr lang="en-US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71225480-109C-462F-8CC2-E52A694F7A09}"/>
              </a:ext>
            </a:extLst>
          </p:cNvPr>
          <p:cNvSpPr txBox="1"/>
          <p:nvPr/>
        </p:nvSpPr>
        <p:spPr>
          <a:xfrm>
            <a:off x="9098661" y="1736427"/>
            <a:ext cx="767798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Таблицы на основе первичного ключа: </a:t>
            </a:r>
            <a:endParaRPr lang="en-US" sz="3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C512F0E0-1B07-470C-9DD9-E14BDD4F5A61}"/>
              </a:ext>
            </a:extLst>
          </p:cNvPr>
          <p:cNvSpPr txBox="1"/>
          <p:nvPr/>
        </p:nvSpPr>
        <p:spPr>
          <a:xfrm>
            <a:off x="9680264" y="2949393"/>
            <a:ext cx="7142994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все таблицы должны иметь объявленный первичный ключ(ПК), который может состоять из нескольких столбцов таблицы. Табличные данные хранятся в порядке ПК, позволяя ускорить данных  поиск по ПК. </a:t>
            </a:r>
          </a:p>
          <a:p>
            <a:pPr algn="just"/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Проблемы с запросами :</a:t>
            </a:r>
          </a:p>
          <a:p>
            <a:pPr algn="just"/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	Пользователь не может обновить значение первичного ключа; Сначала  нужно удалить запись с оригинальным ПК и заново вставить ее с новым значением. 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 Операторы UPDATE и DELETE должны указывать ПК в WHERE, следовательно, не может быть пустых операторов </a:t>
            </a:r>
          </a:p>
          <a:p>
            <a:pPr algn="just"/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DELETE </a:t>
            </a:r>
            <a:r>
              <a:rPr lang="ru-RU" sz="24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all</a:t>
            </a: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— всегда должен быть подзапрос, например: UPDATE </a:t>
            </a:r>
            <a:r>
              <a:rPr lang="ru-RU" sz="24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xxx</a:t>
            </a: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WHERE </a:t>
            </a:r>
            <a:r>
              <a:rPr lang="ru-RU" sz="24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id</a:t>
            </a: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IN (SELECT </a:t>
            </a:r>
            <a:r>
              <a:rPr lang="ru-RU" sz="24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id</a:t>
            </a: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FROM table1</a:t>
            </a:r>
          </a:p>
          <a:p>
            <a:pPr algn="just"/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73068AB1-85A1-4F75-86F0-4F06B7E61B2C}"/>
              </a:ext>
            </a:extLst>
          </p:cNvPr>
          <p:cNvSpPr txBox="1"/>
          <p:nvPr/>
        </p:nvSpPr>
        <p:spPr>
          <a:xfrm>
            <a:off x="740676" y="6610474"/>
            <a:ext cx="6824493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таблицы могут иметь физические зависимости друг от друга. Строки дочерней таблицы могут быть сопоставлены со строками родительской таблицы. </a:t>
            </a:r>
          </a:p>
        </p:txBody>
      </p:sp>
      <p:sp>
        <p:nvSpPr>
          <p:cNvPr id="42" name="TextBox 23">
            <a:extLst>
              <a:ext uri="{FF2B5EF4-FFF2-40B4-BE49-F238E27FC236}">
                <a16:creationId xmlns:a16="http://schemas.microsoft.com/office/drawing/2014/main" id="{69B4B814-EE51-4A49-BB1A-ED8E5E72206E}"/>
              </a:ext>
            </a:extLst>
          </p:cNvPr>
          <p:cNvSpPr txBox="1"/>
          <p:nvPr/>
        </p:nvSpPr>
        <p:spPr>
          <a:xfrm>
            <a:off x="-326709" y="5579174"/>
            <a:ext cx="7731585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Чередующиеся таблицы</a:t>
            </a:r>
            <a:endParaRPr lang="en-US" sz="3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</p:spTree>
    <p:extLst>
      <p:ext uri="{BB962C8B-B14F-4D97-AF65-F5344CB8AC3E}">
        <p14:creationId xmlns:p14="http://schemas.microsoft.com/office/powerpoint/2010/main" val="381159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5400000">
            <a:off x="918145" y="68776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480089" y="209436"/>
            <a:ext cx="1112605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ru-RU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Атрибуты </a:t>
            </a:r>
            <a:r>
              <a:rPr lang="en-US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Google Cloud Spanner 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03085" y="274362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ru-RU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7</a:t>
            </a:r>
            <a:endParaRPr lang="en-US" sz="494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73068AB1-85A1-4F75-86F0-4F06B7E61B2C}"/>
              </a:ext>
            </a:extLst>
          </p:cNvPr>
          <p:cNvSpPr txBox="1"/>
          <p:nvPr/>
        </p:nvSpPr>
        <p:spPr>
          <a:xfrm>
            <a:off x="9357651" y="1524947"/>
            <a:ext cx="8295405" cy="5770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это структуры данных, которые позволяют быстро находить строки в таблице по полям, отличным от первичного ключа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создаются вручную с помощью команды CREATE INDEX. Пользователь выбирает, какие столбцы индексировать.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Вторичные индексы позволяют избежать блокировок на всей таблице при выполнении операций чтения и записи в рамках транзакции.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возможно добавление индекса к существующей таблице без остановки базы данных.</a:t>
            </a:r>
          </a:p>
        </p:txBody>
      </p:sp>
      <p:sp>
        <p:nvSpPr>
          <p:cNvPr id="42" name="TextBox 23">
            <a:extLst>
              <a:ext uri="{FF2B5EF4-FFF2-40B4-BE49-F238E27FC236}">
                <a16:creationId xmlns:a16="http://schemas.microsoft.com/office/drawing/2014/main" id="{69B4B814-EE51-4A49-BB1A-ED8E5E72206E}"/>
              </a:ext>
            </a:extLst>
          </p:cNvPr>
          <p:cNvSpPr txBox="1"/>
          <p:nvPr/>
        </p:nvSpPr>
        <p:spPr>
          <a:xfrm>
            <a:off x="9264242" y="1146396"/>
            <a:ext cx="7731585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Вторичные индексы </a:t>
            </a:r>
            <a:endParaRPr lang="en-US" sz="3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1544FFD9-DE67-4F67-BC20-275BF87C7DA7}"/>
              </a:ext>
            </a:extLst>
          </p:cNvPr>
          <p:cNvSpPr txBox="1"/>
          <p:nvPr/>
        </p:nvSpPr>
        <p:spPr>
          <a:xfrm>
            <a:off x="289183" y="1151706"/>
            <a:ext cx="773158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Первичные индексы: </a:t>
            </a:r>
            <a:endParaRPr lang="en-US" sz="3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F1532D37-E736-41C0-A3DB-30BF43A9F744}"/>
              </a:ext>
            </a:extLst>
          </p:cNvPr>
          <p:cNvSpPr txBox="1"/>
          <p:nvPr/>
        </p:nvSpPr>
        <p:spPr>
          <a:xfrm>
            <a:off x="581025" y="2114146"/>
            <a:ext cx="7709237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Создается автоматически при определении таблицы.</a:t>
            </a:r>
          </a:p>
          <a:p>
            <a:pPr algn="just"/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Гарантируют уникальность значений в столбцах первичного ключа. Каждая строка должна иметь уникальное значение.</a:t>
            </a:r>
          </a:p>
          <a:p>
            <a:pPr algn="just"/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Используется для быстрого доступа к строкам по первичному ключу.</a:t>
            </a:r>
          </a:p>
          <a:p>
            <a:pPr algn="just"/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При добавлении первичного ключа, для столбцов автоматически создаются первичные индексы </a:t>
            </a:r>
          </a:p>
          <a:p>
            <a:pPr algn="just"/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0AC43D37-0C93-4F6E-BB8A-427080FFC3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145" y="6726973"/>
            <a:ext cx="4981996" cy="240568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E9648E6C-4803-475B-8177-F4F72F8E43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5414" y="7714140"/>
            <a:ext cx="10362790" cy="658254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776AFBFD-7637-4C9B-ACDA-3720A0335A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1823" y="8868493"/>
            <a:ext cx="10149972" cy="7796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5400000">
            <a:off x="1403518" y="65140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480089" y="770721"/>
            <a:ext cx="1112605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ru-RU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Атрибуты </a:t>
            </a:r>
            <a:r>
              <a:rPr lang="en-US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Google Cloud Spanner 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7807" y="770721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ru-RU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7</a:t>
            </a:r>
            <a:endParaRPr lang="en-US" sz="494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D7CFC8BC-55DD-4848-BC71-0ED0965999A1}"/>
              </a:ext>
            </a:extLst>
          </p:cNvPr>
          <p:cNvSpPr txBox="1"/>
          <p:nvPr/>
        </p:nvSpPr>
        <p:spPr>
          <a:xfrm>
            <a:off x="-1350096" y="1952309"/>
            <a:ext cx="1009376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	</a:t>
            </a:r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Горизонтальная масштабируемость </a:t>
            </a:r>
            <a:endParaRPr lang="en-US" sz="3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3F4D0BE6-D932-41A9-AE44-DB92B14C078C}"/>
              </a:ext>
            </a:extLst>
          </p:cNvPr>
          <p:cNvSpPr txBox="1"/>
          <p:nvPr/>
        </p:nvSpPr>
        <p:spPr>
          <a:xfrm>
            <a:off x="796105" y="3226652"/>
            <a:ext cx="6824493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это возможность увеличивать производительность системы, добавляя больше узлов</a:t>
            </a:r>
            <a:endParaRPr lang="en-US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endParaRPr lang="en-US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Для достижения горизонтальной масштабируемости используется метод автоматического сегментирования: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разделение базы данных на более мелкие, более управляемые части – сегментами;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каждый сегмент распределяется по нескольким узлам, позволяя выполнять параллельную обработку транзакций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71225480-109C-462F-8CC2-E52A694F7A09}"/>
              </a:ext>
            </a:extLst>
          </p:cNvPr>
          <p:cNvSpPr txBox="1"/>
          <p:nvPr/>
        </p:nvSpPr>
        <p:spPr>
          <a:xfrm>
            <a:off x="9098661" y="1736427"/>
            <a:ext cx="767798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3500" b="1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Поддерка</a:t>
            </a:r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SQL</a:t>
            </a: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C512F0E0-1B07-470C-9DD9-E14BDD4F5A61}"/>
              </a:ext>
            </a:extLst>
          </p:cNvPr>
          <p:cNvSpPr txBox="1"/>
          <p:nvPr/>
        </p:nvSpPr>
        <p:spPr>
          <a:xfrm>
            <a:off x="9303024" y="2682906"/>
            <a:ext cx="7955258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поддержки SQL в </a:t>
            </a:r>
            <a:r>
              <a:rPr lang="ru-RU" sz="24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Spanner</a:t>
            </a: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: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	DDL (Data Definition Language): команды для создания, изменения и удаления таблиц и индексов.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	DML (Data </a:t>
            </a:r>
            <a:r>
              <a:rPr lang="ru-RU" sz="2400" dirty="0" err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Manipulation</a:t>
            </a: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Language): команды для вставки, обновления и удаления данных.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	SELECT-запросы: для выборки данных из таблиц.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	стандартные функции SQL, такие как агрегатные функции (COUNT, SUM, AVG) и функции для работы с датами и строками.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	 подзапросы и операции объединения (JOIN), включая внутренние, внешние и полные объединения.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	 FORCE_INDEX позволяет явно указывать, какой индекс использовать в запросе.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	генерируемые столбцы, которые могут быть использованы в индексах.</a:t>
            </a: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*Генерируемые столбцы — это специальные столбцы в таблице, значения которых вычисляются на основе других столбцов</a:t>
            </a:r>
          </a:p>
        </p:txBody>
      </p:sp>
    </p:spTree>
    <p:extLst>
      <p:ext uri="{BB962C8B-B14F-4D97-AF65-F5344CB8AC3E}">
        <p14:creationId xmlns:p14="http://schemas.microsoft.com/office/powerpoint/2010/main" val="2293761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755695" y="-781916"/>
            <a:ext cx="1683983" cy="2405689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-5181600" y="-2043171"/>
            <a:ext cx="5754080" cy="8220114"/>
            <a:chOff x="0" y="0"/>
            <a:chExt cx="4445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5400000">
            <a:off x="1403518" y="65140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638097" y="549062"/>
            <a:ext cx="1429655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ru-RU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Атрибуты </a:t>
            </a:r>
            <a:r>
              <a:rPr lang="en-US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Google Cloud Spanner 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7807" y="770721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ru-RU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7</a:t>
            </a:r>
            <a:endParaRPr lang="en-US" sz="494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D7CFC8BC-55DD-4848-BC71-0ED0965999A1}"/>
              </a:ext>
            </a:extLst>
          </p:cNvPr>
          <p:cNvSpPr txBox="1"/>
          <p:nvPr/>
        </p:nvSpPr>
        <p:spPr>
          <a:xfrm>
            <a:off x="-529969" y="1353776"/>
            <a:ext cx="10093763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Типы данных </a:t>
            </a:r>
            <a:br>
              <a:rPr lang="en-US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</a:br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(Для диалекта </a:t>
            </a:r>
            <a:r>
              <a:rPr lang="en-US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Spanner)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3F4D0BE6-D932-41A9-AE44-DB92B14C078C}"/>
              </a:ext>
            </a:extLst>
          </p:cNvPr>
          <p:cNvSpPr txBox="1"/>
          <p:nvPr/>
        </p:nvSpPr>
        <p:spPr>
          <a:xfrm>
            <a:off x="586806" y="2682906"/>
            <a:ext cx="7708587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ARRAY: Упорядоченный список из элементов одного типа (массивы массивов не поддерживаются).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BOOL: Логический тип (TRUE или FALSE).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ENUM: Именованный тип, перечисляющий возможные значения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GRAPH_ELEMENT: Элемент в графе.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GRAPH_PATH: Путь в графе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INT64: 64-битное целое число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FLOAT32: Приблизительное значение с одинарной точностью.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FLOAT64: Приблизительное значение с двойной точностью.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PROTO: Протокол буфера.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STRING: Переменная длина символов.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STRUCT: Контейнер с упорядоченными полями.</a:t>
            </a: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71225480-109C-462F-8CC2-E52A694F7A09}"/>
              </a:ext>
            </a:extLst>
          </p:cNvPr>
          <p:cNvSpPr txBox="1"/>
          <p:nvPr/>
        </p:nvSpPr>
        <p:spPr>
          <a:xfrm>
            <a:off x="9537684" y="1294643"/>
            <a:ext cx="7677982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Операторы</a:t>
            </a:r>
            <a:br>
              <a:rPr lang="en-US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</a:br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(Для диалекта </a:t>
            </a:r>
            <a:r>
              <a:rPr lang="en-US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Spanner)</a:t>
            </a:r>
          </a:p>
          <a:p>
            <a:pPr algn="ctr"/>
            <a:r>
              <a:rPr lang="ru-RU" sz="3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endParaRPr lang="en-US" sz="3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C512F0E0-1B07-470C-9DD9-E14BDD4F5A61}"/>
              </a:ext>
            </a:extLst>
          </p:cNvPr>
          <p:cNvSpPr txBox="1"/>
          <p:nvPr/>
        </p:nvSpPr>
        <p:spPr>
          <a:xfrm>
            <a:off x="9117242" y="2410381"/>
            <a:ext cx="894215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AutoNum type="arabicPeriod"/>
            </a:pP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ALL_DIFFERENT: проверка на уникальность элементов в  графе. </a:t>
            </a:r>
          </a:p>
          <a:p>
            <a:pPr algn="just"/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indent="-457200" algn="just">
              <a:buAutoNum type="arabicPeriod" startAt="2"/>
            </a:pP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IS DESTINATION:  является ли узел целью ребра в графе.</a:t>
            </a:r>
          </a:p>
          <a:p>
            <a:pPr marL="457200" indent="-457200" algn="just">
              <a:buAutoNum type="arabicPeriod" startAt="2"/>
            </a:pPr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indent="-457200" algn="just">
              <a:buAutoNum type="arabicPeriod" startAt="3"/>
            </a:pP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IS SOURCE:  является ли узел источником ребра в графе.</a:t>
            </a:r>
          </a:p>
          <a:p>
            <a:pPr algn="just"/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indent="-457200" algn="just">
              <a:buAutoNum type="arabicPeriod" startAt="4"/>
            </a:pP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IS LABELED: соответствует ли метка узла или ребра заданному выражению метки.</a:t>
            </a:r>
          </a:p>
          <a:p>
            <a:pPr algn="just"/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indent="-457200" algn="just">
              <a:buAutoNum type="arabicPeriod" startAt="5"/>
            </a:pP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SAME:  связывают ли все элементы в списке один и тот же узел или ребро.</a:t>
            </a:r>
          </a:p>
          <a:p>
            <a:pPr marL="457200" indent="-457200" algn="just">
              <a:buAutoNum type="arabicPeriod" startAt="5"/>
            </a:pPr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indent="-457200" algn="just">
              <a:buAutoNum type="arabicPeriod" startAt="5"/>
            </a:pPr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marL="457200" indent="-457200" algn="just">
              <a:buAutoNum type="arabicPeriod" startAt="6"/>
            </a:pPr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PROPERTY_EXISTS: существует ли свойство у элемента в графе.</a:t>
            </a:r>
          </a:p>
          <a:p>
            <a:pPr marL="457200" indent="-457200" algn="just">
              <a:buAutoNum type="arabicPeriod" startAt="6"/>
            </a:pPr>
            <a:endParaRPr lang="ru-RU" sz="2400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  <a:p>
            <a:pPr algn="just"/>
            <a:r>
              <a:rPr lang="ru-RU" sz="2400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7.	WITH: Создание переменных для повторного использования в запросе.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963F622-B9B4-4AB4-9FE5-B91E6376D5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0926" y="2871117"/>
            <a:ext cx="4715533" cy="381053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42E0053-44B9-4DE9-B1C2-ADE3C6DC2F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06254" y="4030037"/>
            <a:ext cx="3277057" cy="371527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305BE6F6-33A7-4832-A578-CEDBEFFA2D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4118" y="5022133"/>
            <a:ext cx="3038899" cy="25721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1338C971-BCA6-4D98-87F4-D7CF86A31C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24780" y="5685124"/>
            <a:ext cx="3772426" cy="590632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2D0C9DAE-96EF-4738-899A-BFAF5501D3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77936" y="6883433"/>
            <a:ext cx="3524742" cy="42868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1321902E-AE92-4CA9-840C-111C12DE95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68627" y="8378917"/>
            <a:ext cx="5849166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24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01730" r="-20173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26211" r="-12621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26211" r="-12621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01730" r="-20173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01730" r="-20173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5400000">
            <a:off x="2847475" y="1202778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4188009" y="1183728"/>
            <a:ext cx="11126055" cy="209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СРАВНЕНИЕ GOOGLE CLOUD SPANNER C ЕЁ ПРЕДШЕСТВЕННИКОМ BIGTABLE : 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731764" y="1345630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ru-RU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8</a:t>
            </a:r>
            <a:endParaRPr lang="en-US" sz="494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39B99AD-6871-4D39-9376-9D688686B7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2642" y="2632938"/>
            <a:ext cx="18476493" cy="737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1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05391" y="-56898"/>
            <a:ext cx="12010783" cy="10400796"/>
            <a:chOff x="0" y="0"/>
            <a:chExt cx="4282440" cy="370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r="-10259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4976691" y="-56898"/>
            <a:ext cx="12010783" cy="10400796"/>
            <a:chOff x="0" y="0"/>
            <a:chExt cx="4282440" cy="370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r="-10259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8513348" y="1900357"/>
            <a:ext cx="518653" cy="403322"/>
            <a:chOff x="0" y="0"/>
            <a:chExt cx="812800" cy="6320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8513348" y="3312446"/>
            <a:ext cx="518653" cy="403322"/>
            <a:chOff x="0" y="0"/>
            <a:chExt cx="812800" cy="6320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8513348" y="5173843"/>
            <a:ext cx="518653" cy="403322"/>
            <a:chOff x="0" y="0"/>
            <a:chExt cx="812800" cy="6320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8513348" y="7460480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288463" y="3207155"/>
            <a:ext cx="3540555" cy="129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5C95F3"/>
                </a:solidFill>
                <a:latin typeface="Almarai Bold"/>
                <a:ea typeface="Almarai Bold"/>
                <a:cs typeface="Almarai Bold"/>
                <a:sym typeface="Almarai Bold"/>
              </a:rPr>
              <a:t>ПОДДЕРЖКА КРОССТАБЛИЧНЫХ ТРАНЗАКЦИЙ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88463" y="1785910"/>
            <a:ext cx="2492805" cy="85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5C95F3"/>
                </a:solidFill>
                <a:latin typeface="Almarai Bold"/>
                <a:ea typeface="Almarai Bold"/>
                <a:cs typeface="Almarai Bold"/>
                <a:sym typeface="Almarai Bold"/>
              </a:rPr>
              <a:t>ВЫСОКАЯ ДОСТУПНОСТЬ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86803" y="5059395"/>
            <a:ext cx="2951665" cy="172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5C95F3"/>
                </a:solidFill>
                <a:latin typeface="Almarai Bold"/>
                <a:ea typeface="Almarai Bold"/>
                <a:cs typeface="Almarai Bold"/>
                <a:sym typeface="Almarai Bold"/>
              </a:rPr>
              <a:t>ПОДДЕРЖАНИЕ ТАБЛИЦ ПО ПЕРВИЧНОМУ КЛЮЧУ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88463" y="7346032"/>
            <a:ext cx="2492805" cy="129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5C95F3"/>
                </a:solidFill>
                <a:latin typeface="Almarai Bold"/>
                <a:ea typeface="Almarai Bold"/>
                <a:cs typeface="Almarai Bold"/>
                <a:sym typeface="Almarai Bold"/>
              </a:rPr>
              <a:t>ИНТЕГРАЦИЯ С GOOGLE CLOUD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142267" y="4223196"/>
            <a:ext cx="1783650" cy="178365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374608" y="3022708"/>
            <a:ext cx="6269393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ПРЕИМУЩЕ</a:t>
            </a:r>
          </a:p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СТВА </a:t>
            </a:r>
          </a:p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CLOUD SPANNER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28064" y="4540365"/>
            <a:ext cx="526477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28"/>
              </a:lnSpc>
              <a:spcBef>
                <a:spcPct val="0"/>
              </a:spcBef>
            </a:pPr>
            <a:r>
              <a:rPr lang="ru-RU" sz="6324" b="1" dirty="0">
                <a:solidFill>
                  <a:srgbClr val="F5FFF5"/>
                </a:solidFill>
                <a:latin typeface="Almarai Bold"/>
                <a:ea typeface="Almarai Bold"/>
                <a:cs typeface="Almarai Bold"/>
                <a:sym typeface="Almarai Bold"/>
              </a:rPr>
              <a:t>9</a:t>
            </a:r>
            <a:endParaRPr lang="en-US" sz="6324" b="1" dirty="0">
              <a:solidFill>
                <a:srgbClr val="F5FFF5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grpSp>
        <p:nvGrpSpPr>
          <p:cNvPr id="31" name="Group 31"/>
          <p:cNvGrpSpPr/>
          <p:nvPr/>
        </p:nvGrpSpPr>
        <p:grpSpPr>
          <a:xfrm rot="5400000">
            <a:off x="13085677" y="1900357"/>
            <a:ext cx="518653" cy="403322"/>
            <a:chOff x="0" y="0"/>
            <a:chExt cx="812800" cy="6320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5400000">
            <a:off x="13085677" y="3312446"/>
            <a:ext cx="518653" cy="403322"/>
            <a:chOff x="0" y="0"/>
            <a:chExt cx="812800" cy="63206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5400000">
            <a:off x="13085677" y="5173843"/>
            <a:ext cx="518653" cy="403322"/>
            <a:chOff x="0" y="0"/>
            <a:chExt cx="812800" cy="63206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 rot="5400000">
            <a:off x="13085677" y="7460480"/>
            <a:ext cx="518653" cy="403322"/>
            <a:chOff x="0" y="0"/>
            <a:chExt cx="812800" cy="63206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3860793" y="3207155"/>
            <a:ext cx="3214445" cy="129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5C95F3"/>
                </a:solidFill>
                <a:latin typeface="Almarai Bold"/>
                <a:ea typeface="Almarai Bold"/>
                <a:cs typeface="Almarai Bold"/>
                <a:sym typeface="Almarai Bold"/>
              </a:rPr>
              <a:t>ПОДДЕРЖКА ЧЕРЕДУЮЩИХСЯ ТАБЛИЦ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860793" y="1785910"/>
            <a:ext cx="3755675" cy="85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5C95F3"/>
                </a:solidFill>
                <a:latin typeface="Almarai Bold"/>
                <a:ea typeface="Almarai Bold"/>
                <a:cs typeface="Almarai Bold"/>
                <a:sym typeface="Almarai Bold"/>
              </a:rPr>
              <a:t>ГОРИЗОНТАЛЬНОЕ МАСШТАБИРОВАНИЕ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859133" y="5059395"/>
            <a:ext cx="2492805" cy="129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5C95F3"/>
                </a:solidFill>
                <a:latin typeface="Almarai Bold"/>
                <a:ea typeface="Almarai Bold"/>
                <a:cs typeface="Almarai Bold"/>
                <a:sym typeface="Almarai Bold"/>
              </a:rPr>
              <a:t>ПОДДЕРЖКА ВТОРИЧНЫХ ИНДЕКСОВ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860793" y="7346032"/>
            <a:ext cx="3214445" cy="129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5C95F3"/>
                </a:solidFill>
                <a:latin typeface="Almarai Bold"/>
                <a:ea typeface="Almarai Bold"/>
                <a:cs typeface="Almarai Bold"/>
                <a:sym typeface="Almarai Bold"/>
              </a:rPr>
              <a:t>АВТОМАТИЧЕСКОЕ УПРАВЛЕНИЕ ШАРДИРОВАНИЕМ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4314403" y="-1241169"/>
            <a:ext cx="7569105" cy="7868257"/>
            <a:chOff x="0" y="0"/>
            <a:chExt cx="6108573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r="-13317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410960" y="-3057378"/>
            <a:ext cx="5754080" cy="8220114"/>
            <a:chOff x="0" y="0"/>
            <a:chExt cx="4445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6486681" y="1399072"/>
            <a:ext cx="1224824" cy="12248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-4314403" y="4885095"/>
            <a:ext cx="7569105" cy="7868257"/>
            <a:chOff x="0" y="0"/>
            <a:chExt cx="6108573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r="-13317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3367216" y="4951918"/>
            <a:ext cx="518653" cy="403322"/>
            <a:chOff x="0" y="0"/>
            <a:chExt cx="812800" cy="6320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4614541" y="7170310"/>
            <a:ext cx="518653" cy="403322"/>
            <a:chOff x="0" y="0"/>
            <a:chExt cx="812800" cy="6320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10926705" y="7011694"/>
            <a:ext cx="518653" cy="403322"/>
            <a:chOff x="0" y="0"/>
            <a:chExt cx="812800" cy="6320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10680250" y="5032958"/>
            <a:ext cx="518653" cy="403322"/>
            <a:chOff x="0" y="0"/>
            <a:chExt cx="812800" cy="6320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804247" y="6815087"/>
            <a:ext cx="5271859" cy="1059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4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ABC9F7"/>
                </a:solidFill>
                <a:latin typeface="Almarai Bold"/>
                <a:ea typeface="Almarai Bold"/>
                <a:cs typeface="Almarai Bold"/>
                <a:sym typeface="Almarai Bold"/>
              </a:rPr>
              <a:t>ОТСУТСТВИЕ ЛОКАЛЬНОЙ СРЕДЫ РАЗРАБОТКИ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75280" y="4827945"/>
            <a:ext cx="5041286" cy="1035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4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ABC9F7"/>
                </a:solidFill>
                <a:latin typeface="Almarai Bold"/>
                <a:ea typeface="Almarai Bold"/>
                <a:cs typeface="Almarai Bold"/>
                <a:sym typeface="Almarai Bold"/>
              </a:rPr>
              <a:t>ВЫСОКИЕ ТРЕБОВАНИЯ К РЕСУРСАМ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5410960" y="4885095"/>
            <a:ext cx="5754080" cy="8220114"/>
            <a:chOff x="0" y="0"/>
            <a:chExt cx="4445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sp>
        <p:nvSpPr>
          <p:cNvPr id="29" name="Freeform 29"/>
          <p:cNvSpPr/>
          <p:nvPr/>
        </p:nvSpPr>
        <p:spPr>
          <a:xfrm>
            <a:off x="5597596" y="0"/>
            <a:ext cx="7315200" cy="3737402"/>
          </a:xfrm>
          <a:custGeom>
            <a:avLst/>
            <a:gdLst/>
            <a:ahLst/>
            <a:cxnLst/>
            <a:rect l="l" t="t" r="r" b="b"/>
            <a:pathLst>
              <a:path w="7315200" h="3737402">
                <a:moveTo>
                  <a:pt x="0" y="0"/>
                </a:moveTo>
                <a:lnTo>
                  <a:pt x="7315200" y="0"/>
                </a:lnTo>
                <a:lnTo>
                  <a:pt x="7315200" y="3737402"/>
                </a:lnTo>
                <a:lnTo>
                  <a:pt x="0" y="37374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7523949" y="1615281"/>
            <a:ext cx="5292320" cy="122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A3265"/>
                </a:solidFill>
                <a:latin typeface="Almarai Bold"/>
                <a:ea typeface="Almarai Bold"/>
                <a:cs typeface="Almarai Bold"/>
                <a:sym typeface="Almarai Bold"/>
              </a:rPr>
              <a:t>НЕДОСТАТКИ CLOUD SPANNER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44557" y="1665165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ru-RU" sz="4940" b="1" dirty="0">
                <a:solidFill>
                  <a:srgbClr val="0A3265"/>
                </a:solidFill>
                <a:latin typeface="Almarai Bold"/>
                <a:ea typeface="Almarai Bold"/>
                <a:cs typeface="Almarai Bold"/>
                <a:sym typeface="Almarai Bold"/>
              </a:rPr>
              <a:t>10</a:t>
            </a:r>
            <a:endParaRPr lang="en-US" sz="4940" b="1" dirty="0">
              <a:solidFill>
                <a:srgbClr val="0A3265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142331" y="4827945"/>
            <a:ext cx="4525596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1" dirty="0">
                <a:solidFill>
                  <a:srgbClr val="ABC9F7"/>
                </a:solidFill>
                <a:latin typeface="Almarai Bold"/>
                <a:ea typeface="Almarai Bold"/>
                <a:cs typeface="Almarai Bold"/>
                <a:sym typeface="Almarai Bold"/>
              </a:rPr>
              <a:t>ОГРАНИЧЕННАЯ ПОДДЕРЖКА DDL И DML</a:t>
            </a:r>
          </a:p>
          <a:p>
            <a:pPr marL="0" lvl="0" indent="0" algn="l">
              <a:lnSpc>
                <a:spcPts val="4140"/>
              </a:lnSpc>
              <a:spcBef>
                <a:spcPct val="0"/>
              </a:spcBef>
            </a:pPr>
            <a:endParaRPr lang="en-US" sz="3000" b="1" dirty="0">
              <a:solidFill>
                <a:srgbClr val="ABC9F7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291594" y="6861937"/>
            <a:ext cx="3755675" cy="1059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4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ABC9F7"/>
                </a:solidFill>
                <a:latin typeface="Almarai Bold"/>
                <a:ea typeface="Almarai Bold"/>
                <a:cs typeface="Almarai Bold"/>
                <a:sym typeface="Almarai Bold"/>
              </a:rPr>
              <a:t>ОТСУТСТВИЕ ПРЕДСТАВЛЕНИЙ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0632" y="4377285"/>
            <a:ext cx="2323149" cy="23231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D1FB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98830" y="4155386"/>
            <a:ext cx="2323149" cy="232314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D1FB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310066" y="4932761"/>
            <a:ext cx="1212197" cy="1212197"/>
          </a:xfrm>
          <a:custGeom>
            <a:avLst/>
            <a:gdLst/>
            <a:ahLst/>
            <a:cxnLst/>
            <a:rect l="l" t="t" r="r" b="b"/>
            <a:pathLst>
              <a:path w="1212197" h="1212197">
                <a:moveTo>
                  <a:pt x="0" y="0"/>
                </a:moveTo>
                <a:lnTo>
                  <a:pt x="1212198" y="0"/>
                </a:lnTo>
                <a:lnTo>
                  <a:pt x="1212198" y="1212197"/>
                </a:lnTo>
                <a:lnTo>
                  <a:pt x="0" y="121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63699" y="4644119"/>
            <a:ext cx="1258012" cy="1278940"/>
          </a:xfrm>
          <a:custGeom>
            <a:avLst/>
            <a:gdLst/>
            <a:ahLst/>
            <a:cxnLst/>
            <a:rect l="l" t="t" r="r" b="b"/>
            <a:pathLst>
              <a:path w="1258012" h="1278940">
                <a:moveTo>
                  <a:pt x="0" y="0"/>
                </a:moveTo>
                <a:lnTo>
                  <a:pt x="1258012" y="0"/>
                </a:lnTo>
                <a:lnTo>
                  <a:pt x="1258012" y="1278941"/>
                </a:lnTo>
                <a:lnTo>
                  <a:pt x="0" y="1278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-10800000">
            <a:off x="-4396011" y="4932761"/>
            <a:ext cx="5754080" cy="8220114"/>
            <a:chOff x="0" y="0"/>
            <a:chExt cx="4445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1763" cy="42575"/>
            </a:xfrm>
            <a:custGeom>
              <a:avLst/>
              <a:gdLst/>
              <a:ahLst/>
              <a:cxnLst/>
              <a:rect l="l" t="t" r="r" b="b"/>
              <a:pathLst>
                <a:path w="511763" h="42575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716117" y="7206370"/>
            <a:ext cx="2400097" cy="1562245"/>
          </a:xfrm>
          <a:custGeom>
            <a:avLst/>
            <a:gdLst/>
            <a:ahLst/>
            <a:cxnLst/>
            <a:rect l="l" t="t" r="r" b="b"/>
            <a:pathLst>
              <a:path w="2400097" h="1562245">
                <a:moveTo>
                  <a:pt x="0" y="0"/>
                </a:moveTo>
                <a:lnTo>
                  <a:pt x="2400097" y="0"/>
                </a:lnTo>
                <a:lnTo>
                  <a:pt x="2400097" y="1562245"/>
                </a:lnTo>
                <a:lnTo>
                  <a:pt x="0" y="15622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819620" y="6884676"/>
            <a:ext cx="1883939" cy="1883939"/>
          </a:xfrm>
          <a:custGeom>
            <a:avLst/>
            <a:gdLst/>
            <a:ahLst/>
            <a:cxnLst/>
            <a:rect l="l" t="t" r="r" b="b"/>
            <a:pathLst>
              <a:path w="1883939" h="1883939">
                <a:moveTo>
                  <a:pt x="0" y="0"/>
                </a:moveTo>
                <a:lnTo>
                  <a:pt x="1883939" y="0"/>
                </a:lnTo>
                <a:lnTo>
                  <a:pt x="1883939" y="1883939"/>
                </a:lnTo>
                <a:lnTo>
                  <a:pt x="0" y="18839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968077" y="1431527"/>
            <a:ext cx="11261506" cy="204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ОСНОВНЫЕ ОБЛАСТИ ИСПОЛЬЗОВАНИЯ GOOGLE CLOUD SPANNER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57157" y="7357630"/>
            <a:ext cx="4686843" cy="119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402" b="1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Игровая</a:t>
            </a:r>
            <a:r>
              <a:rPr lang="en-US" sz="3402" b="1" u="none" strike="noStrike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</a:p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402" b="1" u="none" strike="noStrike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индустрия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8069" y="1983962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ru-RU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11</a:t>
            </a:r>
            <a:endParaRPr lang="en-US" sz="494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457157" y="4951906"/>
            <a:ext cx="4686843" cy="119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402" b="1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Аналитиче</a:t>
            </a:r>
            <a:r>
              <a:rPr lang="en-US" sz="3402" b="1" u="none" strike="noStrike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ские приложения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79179" y="4866086"/>
            <a:ext cx="4686843" cy="119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402" b="1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Эле</a:t>
            </a:r>
            <a:r>
              <a:rPr lang="en-US" sz="3402" b="1" u="none" strike="noStrike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ктронная коммерция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79179" y="7357630"/>
            <a:ext cx="4686843" cy="119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402" b="1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Фи</a:t>
            </a:r>
            <a:r>
              <a:rPr lang="en-US" sz="3402" b="1" u="none" strike="noStrike">
                <a:solidFill>
                  <a:srgbClr val="E3F2FF"/>
                </a:solidFill>
                <a:latin typeface="Almarai Bold"/>
                <a:ea typeface="Almarai Bold"/>
                <a:cs typeface="Almarai Bold"/>
                <a:sym typeface="Almarai Bold"/>
              </a:rPr>
              <a:t>нансовые сервисы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936373" y="3111989"/>
            <a:ext cx="7569105" cy="7868257"/>
            <a:chOff x="0" y="0"/>
            <a:chExt cx="6108573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r="-133175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936373" y="798320"/>
            <a:ext cx="7569105" cy="7868257"/>
            <a:chOff x="0" y="0"/>
            <a:chExt cx="6108573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r="-133175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936373" y="0"/>
            <a:ext cx="7569105" cy="7868257"/>
            <a:chOff x="0" y="0"/>
            <a:chExt cx="6108573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8012" r="-28012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936373" y="1452185"/>
            <a:ext cx="7569105" cy="7868257"/>
            <a:chOff x="0" y="0"/>
            <a:chExt cx="6108573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r="-13317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1144411" y="798320"/>
            <a:ext cx="1224824" cy="12248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144411" y="2886542"/>
            <a:ext cx="6383460" cy="1915038"/>
          </a:xfrm>
          <a:custGeom>
            <a:avLst/>
            <a:gdLst/>
            <a:ahLst/>
            <a:cxnLst/>
            <a:rect l="l" t="t" r="r" b="b"/>
            <a:pathLst>
              <a:path w="6383460" h="1915038">
                <a:moveTo>
                  <a:pt x="0" y="0"/>
                </a:moveTo>
                <a:lnTo>
                  <a:pt x="6383460" y="0"/>
                </a:lnTo>
                <a:lnTo>
                  <a:pt x="6383460" y="1915038"/>
                </a:lnTo>
                <a:lnTo>
                  <a:pt x="0" y="1915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128317" y="2886542"/>
            <a:ext cx="5500211" cy="2073850"/>
          </a:xfrm>
          <a:custGeom>
            <a:avLst/>
            <a:gdLst/>
            <a:ahLst/>
            <a:cxnLst/>
            <a:rect l="l" t="t" r="r" b="b"/>
            <a:pathLst>
              <a:path w="5500211" h="2073850">
                <a:moveTo>
                  <a:pt x="0" y="0"/>
                </a:moveTo>
                <a:lnTo>
                  <a:pt x="5500211" y="0"/>
                </a:lnTo>
                <a:lnTo>
                  <a:pt x="5500211" y="2073850"/>
                </a:lnTo>
                <a:lnTo>
                  <a:pt x="0" y="2073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44411" y="4157086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128317" y="5386313"/>
            <a:ext cx="4328691" cy="4328691"/>
          </a:xfrm>
          <a:custGeom>
            <a:avLst/>
            <a:gdLst/>
            <a:ahLst/>
            <a:cxnLst/>
            <a:rect l="l" t="t" r="r" b="b"/>
            <a:pathLst>
              <a:path w="4328691" h="4328691">
                <a:moveTo>
                  <a:pt x="0" y="0"/>
                </a:moveTo>
                <a:lnTo>
                  <a:pt x="4328691" y="0"/>
                </a:lnTo>
                <a:lnTo>
                  <a:pt x="4328691" y="4328690"/>
                </a:lnTo>
                <a:lnTo>
                  <a:pt x="0" y="4328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484946" y="1127555"/>
            <a:ext cx="10557495" cy="58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54"/>
              </a:lnSpc>
              <a:spcBef>
                <a:spcPct val="0"/>
              </a:spcBef>
            </a:pPr>
            <a:r>
              <a:rPr lang="en-US" sz="337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КОМПАНИИ ИСПОЛЬЗУЮЩИЕ CLOUD SPANNER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941172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</a:t>
            </a:r>
            <a:r>
              <a:rPr lang="ru-RU" sz="4940" b="1" dirty="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2</a:t>
            </a:r>
            <a:endParaRPr lang="en-US" sz="4940" b="1" dirty="0">
              <a:solidFill>
                <a:srgbClr val="FFFFFF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01321" y="7410411"/>
            <a:ext cx="3597403" cy="13130362"/>
            <a:chOff x="0" y="0"/>
            <a:chExt cx="862412" cy="3147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412" cy="3147764"/>
            </a:xfrm>
            <a:custGeom>
              <a:avLst/>
              <a:gdLst/>
              <a:ahLst/>
              <a:cxnLst/>
              <a:rect l="l" t="t" r="r" b="b"/>
              <a:pathLst>
                <a:path w="862412" h="3147764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932556"/>
                  </a:lnTo>
                  <a:cubicBezTo>
                    <a:pt x="862412" y="2989633"/>
                    <a:pt x="839738" y="3044372"/>
                    <a:pt x="799378" y="3084731"/>
                  </a:cubicBezTo>
                  <a:cubicBezTo>
                    <a:pt x="759019" y="3125091"/>
                    <a:pt x="704280" y="3147764"/>
                    <a:pt x="647203" y="3147764"/>
                  </a:cubicBezTo>
                  <a:lnTo>
                    <a:pt x="215209" y="3147764"/>
                  </a:lnTo>
                  <a:cubicBezTo>
                    <a:pt x="158132" y="3147764"/>
                    <a:pt x="103393" y="3125091"/>
                    <a:pt x="63033" y="3084731"/>
                  </a:cubicBezTo>
                  <a:cubicBezTo>
                    <a:pt x="22674" y="3044372"/>
                    <a:pt x="0" y="2989633"/>
                    <a:pt x="0" y="2932556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51D4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62412" cy="319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32285" y="7410411"/>
            <a:ext cx="3597403" cy="13130362"/>
            <a:chOff x="0" y="0"/>
            <a:chExt cx="862412" cy="3147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2412" cy="3147764"/>
            </a:xfrm>
            <a:custGeom>
              <a:avLst/>
              <a:gdLst/>
              <a:ahLst/>
              <a:cxnLst/>
              <a:rect l="l" t="t" r="r" b="b"/>
              <a:pathLst>
                <a:path w="862412" h="3147764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932556"/>
                  </a:lnTo>
                  <a:cubicBezTo>
                    <a:pt x="862412" y="2989633"/>
                    <a:pt x="839738" y="3044372"/>
                    <a:pt x="799378" y="3084731"/>
                  </a:cubicBezTo>
                  <a:cubicBezTo>
                    <a:pt x="759019" y="3125091"/>
                    <a:pt x="704280" y="3147764"/>
                    <a:pt x="647203" y="3147764"/>
                  </a:cubicBezTo>
                  <a:lnTo>
                    <a:pt x="215209" y="3147764"/>
                  </a:lnTo>
                  <a:cubicBezTo>
                    <a:pt x="158132" y="3147764"/>
                    <a:pt x="103393" y="3125091"/>
                    <a:pt x="63033" y="3084731"/>
                  </a:cubicBezTo>
                  <a:cubicBezTo>
                    <a:pt x="22674" y="3044372"/>
                    <a:pt x="0" y="2989633"/>
                    <a:pt x="0" y="2932556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51D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62412" cy="319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76262" y="7410411"/>
            <a:ext cx="3597403" cy="13130362"/>
            <a:chOff x="0" y="0"/>
            <a:chExt cx="862412" cy="31477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2412" cy="3147764"/>
            </a:xfrm>
            <a:custGeom>
              <a:avLst/>
              <a:gdLst/>
              <a:ahLst/>
              <a:cxnLst/>
              <a:rect l="l" t="t" r="r" b="b"/>
              <a:pathLst>
                <a:path w="862412" h="3147764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932556"/>
                  </a:lnTo>
                  <a:cubicBezTo>
                    <a:pt x="862412" y="2989633"/>
                    <a:pt x="839738" y="3044372"/>
                    <a:pt x="799378" y="3084731"/>
                  </a:cubicBezTo>
                  <a:cubicBezTo>
                    <a:pt x="759019" y="3125091"/>
                    <a:pt x="704280" y="3147764"/>
                    <a:pt x="647203" y="3147764"/>
                  </a:cubicBezTo>
                  <a:lnTo>
                    <a:pt x="215209" y="3147764"/>
                  </a:lnTo>
                  <a:cubicBezTo>
                    <a:pt x="158132" y="3147764"/>
                    <a:pt x="103393" y="3125091"/>
                    <a:pt x="63033" y="3084731"/>
                  </a:cubicBezTo>
                  <a:cubicBezTo>
                    <a:pt x="22674" y="3044372"/>
                    <a:pt x="0" y="2989633"/>
                    <a:pt x="0" y="2932556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51D4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62412" cy="319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561197" y="-3076614"/>
            <a:ext cx="7200900" cy="10287000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>
                <a:alphaModFix amt="18999"/>
              </a:blip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-4474097" y="-509429"/>
            <a:ext cx="7200900" cy="10287000"/>
            <a:chOff x="0" y="0"/>
            <a:chExt cx="4445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>
                <a:alphaModFix amt="18999"/>
              </a:blip>
              <a:stretch>
                <a:fillRect l="-201730" r="-20173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 rot="-10800000">
            <a:off x="-4722727" y="267514"/>
            <a:ext cx="5754080" cy="8220114"/>
            <a:chOff x="0" y="0"/>
            <a:chExt cx="4445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6320618" y="1340064"/>
            <a:ext cx="6854345" cy="59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31"/>
              </a:lnSpc>
              <a:spcBef>
                <a:spcPct val="0"/>
              </a:spcBef>
            </a:pPr>
            <a:r>
              <a:rPr lang="en-US" sz="3776" b="1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НАША КОМАНДА 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6320618" y="1028700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204907" y="1171552"/>
            <a:ext cx="1456246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1" dirty="0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1</a:t>
            </a:r>
            <a:r>
              <a:rPr lang="ru-RU" sz="4940" b="1" dirty="0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3</a:t>
            </a:r>
            <a:endParaRPr lang="en-US" sz="4940" b="1" dirty="0">
              <a:solidFill>
                <a:srgbClr val="051D40"/>
              </a:solidFill>
              <a:latin typeface="Almarai Bold"/>
              <a:ea typeface="Almarai Bold"/>
              <a:cs typeface="Almarai Bold"/>
              <a:sym typeface="Almarai Bold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1316065" y="635258"/>
            <a:ext cx="7315200" cy="3737402"/>
          </a:xfrm>
          <a:custGeom>
            <a:avLst/>
            <a:gdLst/>
            <a:ahLst/>
            <a:cxnLst/>
            <a:rect l="l" t="t" r="r" b="b"/>
            <a:pathLst>
              <a:path w="7315200" h="3737402">
                <a:moveTo>
                  <a:pt x="0" y="0"/>
                </a:moveTo>
                <a:lnTo>
                  <a:pt x="7315200" y="0"/>
                </a:lnTo>
                <a:lnTo>
                  <a:pt x="7315200" y="3737402"/>
                </a:lnTo>
                <a:lnTo>
                  <a:pt x="0" y="37374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1262774" y="1481972"/>
            <a:ext cx="7315200" cy="3737402"/>
          </a:xfrm>
          <a:custGeom>
            <a:avLst/>
            <a:gdLst/>
            <a:ahLst/>
            <a:cxnLst/>
            <a:rect l="l" t="t" r="r" b="b"/>
            <a:pathLst>
              <a:path w="7315200" h="3737402">
                <a:moveTo>
                  <a:pt x="0" y="0"/>
                </a:moveTo>
                <a:lnTo>
                  <a:pt x="7315200" y="0"/>
                </a:lnTo>
                <a:lnTo>
                  <a:pt x="7315200" y="3737402"/>
                </a:lnTo>
                <a:lnTo>
                  <a:pt x="0" y="37374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774679" y="2800584"/>
            <a:ext cx="4799112" cy="4313202"/>
          </a:xfrm>
          <a:custGeom>
            <a:avLst/>
            <a:gdLst/>
            <a:ahLst/>
            <a:cxnLst/>
            <a:rect l="l" t="t" r="r" b="b"/>
            <a:pathLst>
              <a:path w="4799112" h="4313202">
                <a:moveTo>
                  <a:pt x="0" y="0"/>
                </a:moveTo>
                <a:lnTo>
                  <a:pt x="4799112" y="0"/>
                </a:lnTo>
                <a:lnTo>
                  <a:pt x="4799112" y="4313202"/>
                </a:lnTo>
                <a:lnTo>
                  <a:pt x="0" y="431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481018" y="8040541"/>
            <a:ext cx="3123845" cy="103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spc="169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ГУНЬКО</a:t>
            </a:r>
          </a:p>
          <a:p>
            <a:pPr algn="ctr">
              <a:lnSpc>
                <a:spcPts val="4079"/>
              </a:lnSpc>
            </a:pPr>
            <a:r>
              <a:rPr lang="en-US" sz="3399" spc="169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ВИКТОРИЯ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447" y="8040541"/>
            <a:ext cx="2298092" cy="103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spc="169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ЗАНЬКО ЛАРИСА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97836" y="8040541"/>
            <a:ext cx="2954255" cy="923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150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КОВАЛЬЧУК</a:t>
            </a:r>
          </a:p>
          <a:p>
            <a:pPr algn="ctr">
              <a:lnSpc>
                <a:spcPts val="3600"/>
              </a:lnSpc>
            </a:pPr>
            <a:r>
              <a:rPr lang="en-US" sz="3000" spc="150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ДИАНА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1265</Words>
  <Application>Microsoft Office PowerPoint</Application>
  <PresentationFormat>Произвольный</PresentationFormat>
  <Paragraphs>201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Almarai Bold</vt:lpstr>
      <vt:lpstr>Arial</vt:lpstr>
      <vt:lpstr>Times New Roman</vt:lpstr>
      <vt:lpstr>Calibri</vt:lpstr>
      <vt:lpstr>Almarai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Professional Business Project Presentation</dc:title>
  <dc:creator>Лариса</dc:creator>
  <cp:lastModifiedBy>Лариса</cp:lastModifiedBy>
  <cp:revision>33</cp:revision>
  <dcterms:created xsi:type="dcterms:W3CDTF">2006-08-16T00:00:00Z</dcterms:created>
  <dcterms:modified xsi:type="dcterms:W3CDTF">2025-04-08T18:56:13Z</dcterms:modified>
  <dc:identifier>DAGj96t9D84</dc:identifier>
</cp:coreProperties>
</file>